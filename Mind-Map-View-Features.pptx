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6720840" y="2103120"/>
            <a:ext cx="868680" cy="502920"/>
          </a:xfrm>
          <a:prstGeom prst="line">
            <a:avLst/>
          </a:prstGeom>
          <a:noFill/>
          <a:ln w="3492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629400" y="2606040"/>
            <a:ext cx="960120" cy="45720"/>
          </a:xfrm>
          <a:prstGeom prst="line">
            <a:avLst/>
          </a:prstGeom>
          <a:noFill/>
          <a:ln w="3492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812280" y="2606040"/>
            <a:ext cx="777240" cy="566928"/>
          </a:xfrm>
          <a:prstGeom prst="line">
            <a:avLst/>
          </a:prstGeom>
          <a:noFill/>
          <a:ln w="3492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589520" y="2057400"/>
            <a:ext cx="777240" cy="548640"/>
          </a:xfrm>
          <a:prstGeom prst="line">
            <a:avLst/>
          </a:prstGeom>
          <a:noFill/>
          <a:ln w="3492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366760" y="1856232"/>
            <a:ext cx="365760" cy="201168"/>
          </a:xfrm>
          <a:prstGeom prst="line">
            <a:avLst/>
          </a:prstGeom>
          <a:noFill/>
          <a:ln w="2032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606040"/>
            <a:ext cx="914400" cy="45720"/>
          </a:xfrm>
          <a:prstGeom prst="line">
            <a:avLst/>
          </a:prstGeom>
          <a:noFill/>
          <a:ln w="3492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2651760"/>
            <a:ext cx="256032" cy="182880"/>
          </a:xfrm>
          <a:prstGeom prst="line">
            <a:avLst/>
          </a:prstGeom>
          <a:noFill/>
          <a:ln w="2032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606040"/>
            <a:ext cx="731520" cy="548640"/>
          </a:xfrm>
          <a:prstGeom prst="line">
            <a:avLst/>
          </a:prstGeom>
          <a:noFill/>
          <a:ln w="3492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11680"/>
            <a:ext cx="182880" cy="182880"/>
          </a:xfrm>
          <a:prstGeom prst="ellipse">
            <a:avLst/>
          </a:prstGeom>
          <a:solidFill>
            <a:srgbClr val="1971C2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560320"/>
            <a:ext cx="182880" cy="182880"/>
          </a:xfrm>
          <a:prstGeom prst="ellipse">
            <a:avLst/>
          </a:prstGeom>
          <a:solidFill>
            <a:srgbClr val="9C36B5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3081528"/>
            <a:ext cx="182880" cy="1828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1965960"/>
            <a:ext cx="182880" cy="1828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73084" y="1796796"/>
            <a:ext cx="118872" cy="118872"/>
          </a:xfrm>
          <a:prstGeom prst="ellipse">
            <a:avLst/>
          </a:prstGeom>
          <a:solidFill>
            <a:srgbClr val="E8590C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56032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8700516" y="2775204"/>
            <a:ext cx="118872" cy="118872"/>
          </a:xfrm>
          <a:prstGeom prst="ellipse">
            <a:avLst/>
          </a:prstGeom>
          <a:solidFill>
            <a:srgbClr val="2F9E44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3063240"/>
            <a:ext cx="182880" cy="182880"/>
          </a:xfrm>
          <a:prstGeom prst="ellipse">
            <a:avLst/>
          </a:prstGeom>
          <a:solidFill>
            <a:srgbClr val="E64980"/>
          </a:solidFill>
          <a:ln/>
        </p:spPr>
      </p:sp>
      <p:sp>
        <p:nvSpPr>
          <p:cNvPr id="18" name="Shape 16"/>
          <p:cNvSpPr/>
          <p:nvPr/>
        </p:nvSpPr>
        <p:spPr>
          <a:xfrm>
            <a:off x="7434072" y="2450592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 VIEW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40080" y="2212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XMind-like mind mapping plugin for Obsidian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markdown notes as a visual mind map — bidirectionally, in real time.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COMMUNITY PLUGIN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Markdown IS the Mind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file format — the map is always a normal, readable markdown note underneath.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1B1830"/>
          </a:solidFill>
          <a:ln/>
          <a:effectLst>
            <a:outerShdw sx="100000" sy="100000" kx="0" ky="0" algn="bl" rotWithShape="0" blurRad="127000" dist="38100" dir="5400000">
              <a:srgbClr val="1B18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4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outline.md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48256"/>
            <a:ext cx="3291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Central Topic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97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Main Subtopic A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C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child item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C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grandchild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Main Subtopic B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C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another child [[Note]]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2830068"/>
            <a:ext cx="548640" cy="548640"/>
          </a:xfrm>
          <a:prstGeom prst="ellipse">
            <a:avLst/>
          </a:prstGeom>
          <a:solidFill>
            <a:srgbClr val="F5F3FA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29489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outline maps to the map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74920" y="19842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FAE0E0"/>
          </a:solidFill>
          <a:ln/>
        </p:spPr>
      </p:sp>
      <p:sp>
        <p:nvSpPr>
          <p:cNvPr id="11" name="Text 8"/>
          <p:cNvSpPr/>
          <p:nvPr/>
        </p:nvSpPr>
        <p:spPr>
          <a:xfrm>
            <a:off x="5074920" y="19842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88152" y="1984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root (the note's title if there's no H1)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74920" y="251460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DDEAF6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25146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97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88152" y="2514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first-level branch (heading depth is configurable)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74920" y="3044952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E0F0E3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30449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88152" y="3044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 items continue the hierarchy below that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74920" y="3648456"/>
            <a:ext cx="3429000" cy="896112"/>
          </a:xfrm>
          <a:prstGeom prst="roundRect">
            <a:avLst>
              <a:gd name="adj" fmla="val 8163"/>
            </a:avLst>
          </a:prstGeom>
          <a:solidFill>
            <a:srgbClr val="F5F3FA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37581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map → the markdown updates.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markdown — in Obsidian's editor or any other tool — the map updates back.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View for Obsidian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You Already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and editing fundamentals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620012"/>
            <a:ext cx="512064" cy="512064"/>
          </a:xfrm>
          <a:prstGeom prst="ellipse">
            <a:avLst/>
          </a:prstGeom>
          <a:solidFill>
            <a:srgbClr val="D6E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17429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54533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bidirectional sync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312" y="183794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map, the markdown updates. Edit the markdown, the map updates back.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732020" y="141732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805172" y="1620012"/>
            <a:ext cx="512064" cy="512064"/>
          </a:xfrm>
          <a:prstGeom prst="ellipse">
            <a:avLst/>
          </a:prstGeom>
          <a:solidFill>
            <a:srgbClr val="FBE1D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067" y="174290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6692" y="154533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Keyboard-first editing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36692" y="183794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XMind conventions: Tab for a child, Enter for a sibling, F2 to rename, arrows to navigate.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259080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2793492"/>
            <a:ext cx="512064" cy="512064"/>
          </a:xfrm>
          <a:prstGeom prst="ellipse">
            <a:avLst/>
          </a:prstGeom>
          <a:solidFill>
            <a:srgbClr val="DAEE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" y="291638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271881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Organic, tapered, colored branches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53312" y="301142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first-level branch gets its own color, inherited by its descendants; width tapers with depth.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732020" y="259080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4805172" y="2793492"/>
            <a:ext cx="512064" cy="512064"/>
          </a:xfrm>
          <a:prstGeom prst="ellipse">
            <a:avLst/>
          </a:prstGeom>
          <a:solidFill>
            <a:srgbClr val="EDDB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067" y="291638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6692" y="271881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auto-layout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36692" y="301142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distribute left/right of the root automatically, XMind-style — Rebalance (Ctrl/Cmd+Shift+B) resets to optimal.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376428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25" name="Shape 19"/>
          <p:cNvSpPr/>
          <p:nvPr/>
        </p:nvSpPr>
        <p:spPr>
          <a:xfrm>
            <a:off x="621792" y="3966972"/>
            <a:ext cx="512064" cy="512064"/>
          </a:xfrm>
          <a:prstGeom prst="ellipse">
            <a:avLst/>
          </a:prstGeom>
          <a:solidFill>
            <a:srgbClr val="D3E9E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87" y="4089867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53312" y="389229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Folding, with a badge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53312" y="418490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a branch to a child-count badge; the fold state is persisted across sessions.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4732020" y="376428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30" name="Shape 23"/>
          <p:cNvSpPr/>
          <p:nvPr/>
        </p:nvSpPr>
        <p:spPr>
          <a:xfrm>
            <a:off x="4805172" y="3966972"/>
            <a:ext cx="512064" cy="512064"/>
          </a:xfrm>
          <a:prstGeom prst="ellipse">
            <a:avLst/>
          </a:prstGeom>
          <a:solidFill>
            <a:srgbClr val="FBDEE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067" y="4089867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36692" y="389229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links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536692" y="418490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Wikilinks, URLs, and file paths work right on the map. Ctrl/Cmd+K opens a link editor.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View for Obsidian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the Map, Your 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Manipulation, safety, and scale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620012"/>
            <a:ext cx="512064" cy="512064"/>
          </a:xfrm>
          <a:prstGeom prst="ellipse">
            <a:avLst/>
          </a:prstGeom>
          <a:solidFill>
            <a:srgbClr val="FCEA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17429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54533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positioning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312" y="183794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Alt+drag any node to a custom spot; Rebalance resets everything back to auto-layout.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732020" y="141732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805172" y="1620012"/>
            <a:ext cx="512064" cy="512064"/>
          </a:xfrm>
          <a:prstGeom prst="ellipse">
            <a:avLst/>
          </a:prstGeom>
          <a:solidFill>
            <a:srgbClr val="F9DAD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067" y="174290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6692" y="154533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reordering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36692" y="183794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 a node to nest it as a child, or near a sibling's edge to reorder at the same level.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259080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2793492"/>
            <a:ext cx="512064" cy="512064"/>
          </a:xfrm>
          <a:prstGeom prst="ellipse">
            <a:avLst/>
          </a:prstGeom>
          <a:solidFill>
            <a:srgbClr val="D6E5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" y="291638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271881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Alt+Up / Alt+Down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53312" y="301142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the selected node among its siblings from the keyboard — no dragging required.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732020" y="259080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4805172" y="2793492"/>
            <a:ext cx="512064" cy="512064"/>
          </a:xfrm>
          <a:prstGeom prst="ellipse">
            <a:avLst/>
          </a:prstGeom>
          <a:solidFill>
            <a:srgbClr val="DAEE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067" y="291638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6692" y="271881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 at scale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36692" y="301142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undo/redo, viewport culling, and dirty-tracked rendering — tested to 5,000 nodes without freezing.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3764280"/>
            <a:ext cx="3863340" cy="917448"/>
          </a:xfrm>
          <a:prstGeom prst="roundRect">
            <a:avLst>
              <a:gd name="adj" fmla="val 8970"/>
            </a:avLst>
          </a:prstGeom>
          <a:solidFill>
            <a:srgbClr val="F5F3FA"/>
          </a:solidFill>
          <a:ln/>
        </p:spPr>
      </p:sp>
      <p:sp>
        <p:nvSpPr>
          <p:cNvPr id="25" name="Shape 19"/>
          <p:cNvSpPr/>
          <p:nvPr/>
        </p:nvSpPr>
        <p:spPr>
          <a:xfrm>
            <a:off x="621792" y="3966972"/>
            <a:ext cx="512064" cy="512064"/>
          </a:xfrm>
          <a:prstGeom prst="ellipse">
            <a:avLst/>
          </a:prstGeom>
          <a:solidFill>
            <a:srgbClr val="EDDB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87" y="4089867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53312" y="3892296"/>
            <a:ext cx="2830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Content-preserving sync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53312" y="4184904"/>
            <a:ext cx="2830068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Paragraphs, code blocks, and unrelated frontmatter the plugin doesn't touch round-trip untouched.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View for Obsidian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Shortcuts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action is reachable without touching the mouse.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77640" cy="3218688"/>
          </a:xfrm>
          <a:prstGeom prst="roundRect">
            <a:avLst>
              <a:gd name="adj" fmla="val 2273"/>
            </a:avLst>
          </a:prstGeom>
          <a:solidFill>
            <a:srgbClr val="F5F3FA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97480" y="13716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child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85800" y="1773936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7739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/ Shift+Enter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97480" y="17739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sibling after / before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85800" y="2176272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762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 / double-click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97480" y="21762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node text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85800" y="2578608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578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25786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editing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85800" y="2980944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9809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 Backspace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97480" y="29809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node + subtree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85800" y="3383280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383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keys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97480" y="33832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nearest node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85800" y="3785616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37856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Alt+↑ / Alt+↓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37856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among siblings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85800" y="4187952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1879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 a node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97480" y="418795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to nest, or near an edge to reorder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617720" y="1371600"/>
            <a:ext cx="3977640" cy="3218688"/>
          </a:xfrm>
          <a:prstGeom prst="roundRect">
            <a:avLst>
              <a:gd name="adj" fmla="val 2273"/>
            </a:avLst>
          </a:prstGeom>
          <a:solidFill>
            <a:srgbClr val="F5F3FA"/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Ctrl/Cmd+Z / Shift+Z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13716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754880" y="1773936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17739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Ctrl/Cmd+/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0" y="17739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/ unfold branch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754880" y="2176272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21762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21762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link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4754880" y="2578608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2578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Ctrl/Cmd+C / X / V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25786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/ cut / paste (subtrees)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4754880" y="2980944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29809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Ctrl/Cmd+= / − / wheel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66560" y="29809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4754880" y="3383280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64024" y="3383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Ctrl/Cmd+Home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33832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on root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4754880" y="3785616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64024" y="37856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Ctrl/Cmd+Shift+B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66560" y="37856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mind map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4754880" y="4187952"/>
            <a:ext cx="3703320" cy="0"/>
          </a:xfrm>
          <a:prstGeom prst="line">
            <a:avLst/>
          </a:prstGeom>
          <a:noFill/>
          <a:ln w="9525">
            <a:solidFill>
              <a:srgbClr val="E4E0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41879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Alt+drag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66560" y="418795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 a custom position</a:t>
            </a:r>
            <a:endParaRPr lang="en-US" sz="1030" dirty="0"/>
          </a:p>
        </p:txBody>
      </p:sp>
      <p:sp>
        <p:nvSpPr>
          <p:cNvPr id="52" name="Text 50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View for Obsidian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Is a Hard Requirement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afterthought — every feature is budgeted and measured against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721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9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a 2,000-node map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5087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7214A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6733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9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&lt;16ms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→ screen update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7214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6733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9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&lt;100ms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relayout, compute (2,000 nodes)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15087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7214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6733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9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60fps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&amp; zoom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1417320"/>
          </a:xfrm>
          <a:prstGeom prst="roundRect">
            <a:avLst>
              <a:gd name="adj" fmla="val 5806"/>
            </a:avLst>
          </a:prstGeom>
          <a:solidFill>
            <a:srgbClr val="2721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3666744"/>
            <a:ext cx="566928" cy="566928"/>
          </a:xfrm>
          <a:prstGeom prst="ellipse">
            <a:avLst/>
          </a:prstGeom>
          <a:solidFill>
            <a:srgbClr val="342C5C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59" y="3802807"/>
            <a:ext cx="294803" cy="29480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08760" y="34290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culling keeps the DOM footprint proportional to what's on screen, not the size of the map.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to a 5,000-node fixture — degradation stays graceful, never a freeze.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View for Obsidian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It to Your Notes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settings, not a configuration maze.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63340" cy="1399032"/>
          </a:xfrm>
          <a:prstGeom prst="roundRect">
            <a:avLst>
              <a:gd name="adj" fmla="val 5882"/>
            </a:avLst>
          </a:prstGeom>
          <a:solidFill>
            <a:srgbClr val="F5F3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99616"/>
            <a:ext cx="512064" cy="512064"/>
          </a:xfrm>
          <a:prstGeom prst="ellipse">
            <a:avLst/>
          </a:prstGeom>
          <a:solidFill>
            <a:srgbClr val="D6E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1622511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066544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331720"/>
            <a:ext cx="33512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(default), right-only, or left-only branch placement.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32020" y="1371600"/>
            <a:ext cx="3863340" cy="1399032"/>
          </a:xfrm>
          <a:prstGeom prst="roundRect">
            <a:avLst>
              <a:gd name="adj" fmla="val 5882"/>
            </a:avLst>
          </a:prstGeom>
          <a:solidFill>
            <a:srgbClr val="F5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896612" y="1499616"/>
            <a:ext cx="512064" cy="512064"/>
          </a:xfrm>
          <a:prstGeom prst="ellipse">
            <a:avLst/>
          </a:prstGeom>
          <a:solidFill>
            <a:srgbClr val="FBE1D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507" y="1622511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8052" y="2066544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depth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8052" y="2331720"/>
            <a:ext cx="33512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hierarchy levels are written as markdown headings before switching to list items.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08376"/>
            <a:ext cx="3863340" cy="1399032"/>
          </a:xfrm>
          <a:prstGeom prst="roundRect">
            <a:avLst>
              <a:gd name="adj" fmla="val 5882"/>
            </a:avLst>
          </a:prstGeom>
          <a:solidFill>
            <a:srgbClr val="F5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136392"/>
            <a:ext cx="512064" cy="512064"/>
          </a:xfrm>
          <a:prstGeom prst="ellipse">
            <a:avLst/>
          </a:prstGeom>
          <a:solidFill>
            <a:srgbClr val="D3E9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325928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3703320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delay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" y="3968496"/>
            <a:ext cx="33512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wait after an edit before saving the change to disk.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32020" y="3008376"/>
            <a:ext cx="3863340" cy="1399032"/>
          </a:xfrm>
          <a:prstGeom prst="roundRect">
            <a:avLst>
              <a:gd name="adj" fmla="val 5882"/>
            </a:avLst>
          </a:prstGeom>
          <a:solidFill>
            <a:srgbClr val="F5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4896612" y="3136392"/>
            <a:ext cx="512064" cy="512064"/>
          </a:xfrm>
          <a:prstGeom prst="ellipse">
            <a:avLst/>
          </a:prstGeom>
          <a:solidFill>
            <a:srgbClr val="FBDEE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507" y="325928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88052" y="3703320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cutoff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88052" y="3968496"/>
            <a:ext cx="33512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node-count threshold above which fold/unfold animations turn off, so large maps stay instant.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View for Obsidian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6172200" y="3520440"/>
            <a:ext cx="1051560" cy="457200"/>
          </a:xfrm>
          <a:prstGeom prst="line">
            <a:avLst/>
          </a:prstGeom>
          <a:noFill/>
          <a:ln w="349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035040" y="3977640"/>
            <a:ext cx="1188720" cy="45720"/>
          </a:xfrm>
          <a:prstGeom prst="line">
            <a:avLst/>
          </a:prstGeom>
          <a:noFill/>
          <a:ln w="349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5577840" y="4023360"/>
            <a:ext cx="457200" cy="182880"/>
          </a:xfrm>
          <a:prstGeom prst="line">
            <a:avLst/>
          </a:prstGeom>
          <a:noFill/>
          <a:ln w="203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263640" y="3977640"/>
            <a:ext cx="960120" cy="502920"/>
          </a:xfrm>
          <a:prstGeom prst="line">
            <a:avLst/>
          </a:prstGeom>
          <a:noFill/>
          <a:ln w="349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223760" y="3520440"/>
            <a:ext cx="960120" cy="457200"/>
          </a:xfrm>
          <a:prstGeom prst="line">
            <a:avLst/>
          </a:prstGeom>
          <a:noFill/>
          <a:ln w="349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3977640"/>
            <a:ext cx="1051560" cy="45720"/>
          </a:xfrm>
          <a:prstGeom prst="line">
            <a:avLst/>
          </a:prstGeom>
          <a:noFill/>
          <a:ln w="349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4023360"/>
            <a:ext cx="411480" cy="182880"/>
          </a:xfrm>
          <a:prstGeom prst="line">
            <a:avLst/>
          </a:prstGeom>
          <a:noFill/>
          <a:ln w="203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3977640"/>
            <a:ext cx="868680" cy="502920"/>
          </a:xfrm>
          <a:prstGeom prst="line">
            <a:avLst/>
          </a:prstGeom>
          <a:noFill/>
          <a:ln w="349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429000"/>
            <a:ext cx="182880" cy="182880"/>
          </a:xfrm>
          <a:prstGeom prst="ellipse">
            <a:avLst/>
          </a:prstGeom>
          <a:solidFill>
            <a:srgbClr val="1971C2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3931920"/>
            <a:ext cx="182880" cy="182880"/>
          </a:xfrm>
          <a:prstGeom prst="ellipse">
            <a:avLst/>
          </a:prstGeom>
          <a:solidFill>
            <a:srgbClr val="9C36B5"/>
          </a:solidFill>
          <a:ln/>
        </p:spPr>
      </p:sp>
      <p:sp>
        <p:nvSpPr>
          <p:cNvPr id="12" name="Shape 10"/>
          <p:cNvSpPr/>
          <p:nvPr/>
        </p:nvSpPr>
        <p:spPr>
          <a:xfrm>
            <a:off x="5518404" y="4146804"/>
            <a:ext cx="118872" cy="118872"/>
          </a:xfrm>
          <a:prstGeom prst="ellipse">
            <a:avLst/>
          </a:prstGeom>
          <a:solidFill>
            <a:srgbClr val="9C36B5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4389120"/>
            <a:ext cx="182880" cy="182880"/>
          </a:xfrm>
          <a:prstGeom prst="ellipse">
            <a:avLst/>
          </a:prstGeom>
          <a:solidFill>
            <a:srgbClr val="0C859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3429000"/>
            <a:ext cx="182880" cy="1828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393192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8627364" y="4146804"/>
            <a:ext cx="118872" cy="118872"/>
          </a:xfrm>
          <a:prstGeom prst="ellipse">
            <a:avLst/>
          </a:prstGeom>
          <a:solidFill>
            <a:srgbClr val="2F9E44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4389120"/>
            <a:ext cx="182880" cy="182880"/>
          </a:xfrm>
          <a:prstGeom prst="ellipse">
            <a:avLst/>
          </a:prstGeom>
          <a:solidFill>
            <a:srgbClr val="E64980"/>
          </a:solidFill>
          <a:ln/>
        </p:spPr>
      </p:sp>
      <p:sp>
        <p:nvSpPr>
          <p:cNvPr id="18" name="Shape 16"/>
          <p:cNvSpPr/>
          <p:nvPr/>
        </p:nvSpPr>
        <p:spPr>
          <a:xfrm>
            <a:off x="7068312" y="3822192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it.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note as a mind map.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278892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2721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788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Palette  →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 as mind map"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right-click any markdown file in the file explorer.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Map View — Feature Overview</dc:title>
  <dc:subject>PptxGenJS Presentation</dc:subject>
  <dc:creator>Mind Map View</dc:creator>
  <cp:lastModifiedBy>Mind Map View</cp:lastModifiedBy>
  <cp:revision>1</cp:revision>
  <dcterms:created xsi:type="dcterms:W3CDTF">2026-07-07T11:38:27Z</dcterms:created>
  <dcterms:modified xsi:type="dcterms:W3CDTF">2026-07-07T11:38:27Z</dcterms:modified>
</cp:coreProperties>
</file>